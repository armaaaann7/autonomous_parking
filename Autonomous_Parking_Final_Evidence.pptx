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2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ummary" id="{d3c8ae32-6578-6028-c1ec-aae7c9f766dd}">
          <p14:sldIdLst>
            <p14:sldId id="257"/>
          </p14:sldIdLst>
        </p14:section>
        <p14:section name="System" id="{1b4d0e74-6ae7-7e8d-9d9e-601fa2744939}">
          <p14:sldIdLst>
            <p14:sldId id="258"/>
            <p14:sldId id="259"/>
          </p14:sldIdLst>
        </p14:section>
        <p14:section name="Metric" id="{38d9d445-bfd4-b2eb-595a-2d09128c22ea}">
          <p14:sldIdLst>
            <p14:sldId id="260"/>
          </p14:sldIdLst>
        </p14:section>
        <p14:section name="Results" id="{88f40b1c-9b6e-f865-48d5-c676eb49b331}">
          <p14:sldIdLst>
            <p14:sldId id="261"/>
            <p14:sldId id="262"/>
          </p14:sldIdLst>
        </p14:section>
        <p14:section name="PPO" id="{a6023b7d-014c-10f0-139f-2c51b0c70a20}">
          <p14:sldIdLst>
            <p14:sldId id="263"/>
          </p14:sldIdLst>
        </p14:section>
        <p14:section name="Hybrid" id="{1bbbd3bd-5a44-42d1-6cca-7113a47ac47f}">
          <p14:sldIdLst>
            <p14:sldId id="264"/>
          </p14:sldIdLst>
        </p14:section>
        <p14:section name="Shield" id="{0b98472c-262c-a055-0811-4950dc8a406a}">
          <p14:sldIdLst>
            <p14:sldId id="265"/>
            <p14:sldId id="266"/>
          </p14:sldIdLst>
        </p14:section>
        <p14:section name="Limits" id="{7a7fcf7d-315a-a1d0-2d7e-e86147cefd3c}">
          <p14:sldIdLst>
            <p14:sldId id="267"/>
          </p14:sldIdLst>
        </p14:section>
        <p14:section name="Verdict" id="{f201a3d3-6cdb-56c0-6b72-bc48bf12af12}">
          <p14:sldIdLst>
            <p14:sldId id="268"/>
            <p14:sldId id="269"/>
          </p14:sldIdLst>
        </p14:section>
        <p14:section name="Default-1" id="{fc87d51c-c6ed-29f5-5fd7-c7a496a5a765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Pose success %</c:v>
                </c:pt>
              </c:strCache>
            </c:strRef>
          </c:tx>
          <c:spPr>
            <a:solidFill>
              <a:srgbClr val="60A5F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Fuzzy-only (legacy)</c:v>
                  </c:pt>
                  <c:pt idx="1">
                    <c:v>Fuzzy-precise</c:v>
                  </c:pt>
                  <c:pt idx="2">
                    <c:v>PPO original</c:v>
                  </c:pt>
                  <c:pt idx="3">
                    <c:v>PPO v2</c:v>
                  </c:pt>
                  <c:pt idx="4">
                    <c:v>RL + Fuzzy (orig.)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88.2</c:v>
                </c:pt>
                <c:pt idx="1">
                  <c:v>88.2</c:v>
                </c:pt>
                <c:pt idx="2">
                  <c:v>5.8</c:v>
                </c:pt>
                <c:pt idx="3">
                  <c:v>68.2</c:v>
                </c:pt>
                <c:pt idx="4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Strict (in-bay) success %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Fuzzy-only (legacy)</c:v>
                  </c:pt>
                  <c:pt idx="1">
                    <c:v>Fuzzy-precise</c:v>
                  </c:pt>
                  <c:pt idx="2">
                    <c:v>PPO original</c:v>
                  </c:pt>
                  <c:pt idx="3">
                    <c:v>PPO v2</c:v>
                  </c:pt>
                  <c:pt idx="4">
                    <c:v>RL + Fuzzy (orig.)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</c:v>
                </c:pt>
                <c:pt idx="1">
                  <c:v>57.8</c:v>
                </c:pt>
                <c:pt idx="2">
                  <c:v>1.8</c:v>
                </c:pt>
                <c:pt idx="3">
                  <c:v>46.4</c:v>
                </c:pt>
                <c:pt idx="4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2A3B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EAF0FA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EAF0FA"/>
                </a:solidFill>
                <a:latin typeface="Calibri"/>
              </a:rPr>
              <a:t>Pose success % by start distance (n = 181 / 170 / 149)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Fuzzy-only</c:v>
                </c:pt>
              </c:strCache>
            </c:strRef>
          </c:tx>
          <c:spPr>
            <a:solidFill>
              <a:srgbClr val="22D3E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Near (&lt;2.5 m)</c:v>
                  </c:pt>
                  <c:pt idx="1">
                    <c:v>Mid (2.5-4.5 m)</c:v>
                  </c:pt>
                  <c:pt idx="2">
                    <c:v>Far (≥4.5 m)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96.7</c:v>
                </c:pt>
                <c:pt idx="1">
                  <c:v>88.8</c:v>
                </c:pt>
                <c:pt idx="2">
                  <c:v>77.2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PPO v2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Near (&lt;2.5 m)</c:v>
                  </c:pt>
                  <c:pt idx="1">
                    <c:v>Mid (2.5-4.5 m)</c:v>
                  </c:pt>
                  <c:pt idx="2">
                    <c:v>Far (≥4.5 m)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97.8</c:v>
                </c:pt>
                <c:pt idx="1">
                  <c:v>86.5</c:v>
                </c:pt>
                <c:pt idx="2">
                  <c:v>11.4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PPO original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Near (&lt;2.5 m)</c:v>
                  </c:pt>
                  <c:pt idx="1">
                    <c:v>Mid (2.5-4.5 m)</c:v>
                  </c:pt>
                  <c:pt idx="2">
                    <c:v>Far (≥4.5 m)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6.1</c:v>
                </c:pt>
                <c:pt idx="1">
                  <c:v>7.1</c:v>
                </c:pt>
                <c:pt idx="2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6350" cap="flat">
              <a:solidFill>
                <a:srgbClr val="2A3B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EAF0F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EAF0FA"/>
                </a:solidFill>
                <a:latin typeface="Calibri"/>
              </a:rPr>
              <a:t>PPO v2 + Fuzzy, no latch: outcome % by RL weight (seeds 8000-8099)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0.25</c:v>
                  </c:pt>
                  <c:pt idx="2">
                    <c:v>0.5</c:v>
                  </c:pt>
                  <c:pt idx="3">
                    <c:v>0.75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77</c:v>
                </c:pt>
                <c:pt idx="2">
                  <c:v>76</c:v>
                </c:pt>
                <c:pt idx="3">
                  <c:v>70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Collision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0.25</c:v>
                  </c:pt>
                  <c:pt idx="2">
                    <c:v>0.5</c:v>
                  </c:pt>
                  <c:pt idx="3">
                    <c:v>0.75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20</c:v>
                </c:pt>
                <c:pt idx="1">
                  <c:v>23</c:v>
                </c:pt>
                <c:pt idx="2">
                  <c:v>11</c:v>
                </c:pt>
                <c:pt idx="3">
                  <c:v>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Timeout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</c:v>
                  </c:pt>
                  <c:pt idx="1">
                    <c:v>0.25</c:v>
                  </c:pt>
                  <c:pt idx="2">
                    <c:v>0.5</c:v>
                  </c:pt>
                  <c:pt idx="3">
                    <c:v>0.75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13</c:v>
                </c:pt>
                <c:pt idx="3">
                  <c:v>25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A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6350" cap="flat">
              <a:solidFill>
                <a:srgbClr val="2A3B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EAF0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AF0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AF0FA"/>
                </a:solidFill>
                <a:latin typeface="Calibri"/>
              </a:rPr>
              <a:t>No shield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88.2</c:v>
                </c:pt>
                <c:pt idx="1">
                  <c:v>5.8</c:v>
                </c:pt>
                <c:pt idx="2">
                  <c:v>68.2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Collision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11.8</c:v>
                </c:pt>
                <c:pt idx="1">
                  <c:v>43.4</c:v>
                </c:pt>
                <c:pt idx="2">
                  <c:v>4.2</c:v>
                </c:pt>
                <c:pt idx="3">
                  <c:v>13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Timeout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50.8</c:v>
                </c:pt>
                <c:pt idx="2">
                  <c:v>27.6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A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A3B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EAF0FA"/>
                </a:solidFill>
                <a:latin typeface="Calibri"/>
              </a:defRPr>
            </a:pPr>
            <a:r>
              <a:rPr sz="1300" b="0" i="0" u="none" strike="noStrike">
                <a:solidFill>
                  <a:srgbClr val="EAF0FA"/>
                </a:solidFill>
                <a:latin typeface="Calibri"/>
              </a:rPr>
              <a:t>With envelope shield</a:t>
            </a:r>
          </a:p>
        </c:rich>
      </c:tx>
      <c:layout/>
      <c:overlay val="0"/>
    </c:title>
    <c:autoTitleDeleted val="0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Success</c:v>
                </c:pt>
              </c:strCache>
            </c:strRef>
          </c:tx>
          <c:spPr>
            <a:solidFill>
              <a:srgbClr val="34D399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83.8</c:v>
                </c:pt>
                <c:pt idx="1">
                  <c:v>5.8</c:v>
                </c:pt>
                <c:pt idx="2">
                  <c:v>66.6</c:v>
                </c:pt>
                <c:pt idx="3">
                  <c:v>83.4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Collision</c:v>
                </c:pt>
              </c:strCache>
            </c:strRef>
          </c:tx>
          <c:spPr>
            <a:solidFill>
              <a:srgbClr val="F8717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Timeout</c:v>
                </c:pt>
              </c:strCache>
            </c:strRef>
          </c:tx>
          <c:spPr>
            <a:solidFill>
              <a:srgbClr val="FBBF2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EAF0FA"/>
                    </a:solidFill>
                    <a:latin typeface="Calibri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Fuzzy-only</c:v>
                  </c:pt>
                  <c:pt idx="1">
                    <c:v>PPO original</c:v>
                  </c:pt>
                  <c:pt idx="2">
                    <c:v>PPO v2</c:v>
                  </c:pt>
                  <c:pt idx="3">
                    <c:v>RL + Fuzzy</c:v>
                  </c:pt>
                </c:lvl>
              </c:multiLvlStrCache>
            </c:multiLvl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16.2</c:v>
                </c:pt>
                <c:pt idx="1">
                  <c:v>94.2</c:v>
                </c:pt>
                <c:pt idx="2">
                  <c:v>33.4</c:v>
                </c:pt>
                <c:pt idx="3">
                  <c:v>16.6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EAF0FA"/>
                  </a:solidFill>
                  <a:latin typeface="Calibri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A3B6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9DB0CF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EAF0FA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drawing is a real recorded trajectory (viewer/assets/data/fuzzy_precise_seed9170.json). Seed 9170 was selected to contrast pose and strict outcomes, so it is illustrative, not typical.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number is from the corrected evaluation matrix. McNemar tests are paired on identical seeds.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shield is a model-based filter, not a learned component.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Sets A (3000-3099), B (5000-5199) and C (fresh 9000-9199) pooled, n = 500. Note: the original PPO checkpoint used seeds 5000-5039 for best-checkpoint selection (overlap with set B); set C is clean.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Cyan outline = start pose, coloured outline = final pose. Heights and widths of the car outlines use the real 4.2 x 1.8 m footprint, scaled with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TITLE-image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465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F83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 PARKING  ·  I069 JIA JADHAV  ·  I072 ARMAAN SHAIKH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22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spc="200" kern="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B.TECH AI  ·  FINAL EVIDENCE REVIEW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258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0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Parking System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74320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Reinforcement Learning, Fuzzy Logic and a Safety Shield: what the evidence supports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931920"/>
            <a:ext cx="4846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6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in-bay metric, retrained PPO, hybrid diagnosis and shield verification, all on held-out seeds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4846320" cy="1234440"/>
          </a:xfrm>
          <a:prstGeom prst="roundRect">
            <a:avLst>
              <a:gd name="adj" fmla="val 5926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5166360"/>
            <a:ext cx="4480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I069   Jia Jadhav</a:t>
            </a:r>
            <a:endParaRPr lang="en-US" sz="1800" dirty="0"/>
          </a:p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I072   Armaan Shaikh</a:t>
            </a:r>
            <a:endParaRPr lang="en-US" sz="1800" dirty="0"/>
          </a:p>
          <a:p>
            <a:pPr algn="l" indent="0" marL="0">
              <a:lnSpc>
                <a:spcPct val="10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Artificial Intelligence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852160" y="1463040"/>
            <a:ext cx="5943600" cy="3474720"/>
          </a:xfrm>
          <a:prstGeom prst="roundRect">
            <a:avLst>
              <a:gd name="adj" fmla="val 2105"/>
            </a:avLst>
          </a:prstGeom>
          <a:solidFill>
            <a:srgbClr val="0D1630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57349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308783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436102" y="1586802"/>
            <a:ext cx="775717" cy="1551434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8840548" y="2428137"/>
            <a:ext cx="134278" cy="1577823"/>
          </a:xfrm>
          <a:custGeom>
            <a:avLst/>
            <a:gdLst/>
            <a:ahLst/>
            <a:cxnLst/>
            <a:rect l="l" t="t" r="r" b="b"/>
            <a:pathLst>
              <a:path w="134278" h="1577823">
                <a:moveTo>
                  <a:pt x="134278" y="1577823"/>
                </a:moveTo>
                <a:lnTo>
                  <a:pt x="133173" y="1563317"/>
                </a:lnTo>
                <a:lnTo>
                  <a:pt x="130895" y="1533254"/>
                </a:lnTo>
                <a:lnTo>
                  <a:pt x="128102" y="1496199"/>
                </a:lnTo>
                <a:lnTo>
                  <a:pt x="125106" y="1456279"/>
                </a:lnTo>
                <a:lnTo>
                  <a:pt x="122033" y="1415187"/>
                </a:lnTo>
                <a:lnTo>
                  <a:pt x="118933" y="1373615"/>
                </a:lnTo>
                <a:lnTo>
                  <a:pt x="115826" y="1331846"/>
                </a:lnTo>
                <a:lnTo>
                  <a:pt x="112717" y="1289996"/>
                </a:lnTo>
                <a:lnTo>
                  <a:pt x="109607" y="1248114"/>
                </a:lnTo>
                <a:lnTo>
                  <a:pt x="106496" y="1206219"/>
                </a:lnTo>
                <a:lnTo>
                  <a:pt x="103382" y="1164319"/>
                </a:lnTo>
                <a:lnTo>
                  <a:pt x="100262" y="1122418"/>
                </a:lnTo>
                <a:lnTo>
                  <a:pt x="97135" y="1080516"/>
                </a:lnTo>
                <a:lnTo>
                  <a:pt x="93999" y="1038615"/>
                </a:lnTo>
                <a:lnTo>
                  <a:pt x="90850" y="996714"/>
                </a:lnTo>
                <a:lnTo>
                  <a:pt x="87686" y="954815"/>
                </a:lnTo>
                <a:lnTo>
                  <a:pt x="84506" y="912918"/>
                </a:lnTo>
                <a:lnTo>
                  <a:pt x="81306" y="871022"/>
                </a:lnTo>
                <a:lnTo>
                  <a:pt x="78083" y="829127"/>
                </a:lnTo>
                <a:lnTo>
                  <a:pt x="74836" y="787235"/>
                </a:lnTo>
                <a:lnTo>
                  <a:pt x="71560" y="745345"/>
                </a:lnTo>
                <a:lnTo>
                  <a:pt x="68252" y="703457"/>
                </a:lnTo>
                <a:lnTo>
                  <a:pt x="64909" y="661572"/>
                </a:lnTo>
                <a:lnTo>
                  <a:pt x="61527" y="619691"/>
                </a:lnTo>
                <a:lnTo>
                  <a:pt x="58102" y="577812"/>
                </a:lnTo>
                <a:lnTo>
                  <a:pt x="54627" y="535938"/>
                </a:lnTo>
                <a:lnTo>
                  <a:pt x="51099" y="494068"/>
                </a:lnTo>
                <a:lnTo>
                  <a:pt x="47510" y="452203"/>
                </a:lnTo>
                <a:lnTo>
                  <a:pt x="43853" y="410344"/>
                </a:lnTo>
                <a:lnTo>
                  <a:pt x="40118" y="368491"/>
                </a:lnTo>
                <a:lnTo>
                  <a:pt x="36301" y="326706"/>
                </a:lnTo>
                <a:lnTo>
                  <a:pt x="32526" y="286450"/>
                </a:lnTo>
                <a:lnTo>
                  <a:pt x="28931" y="249188"/>
                </a:lnTo>
                <a:lnTo>
                  <a:pt x="25569" y="215343"/>
                </a:lnTo>
                <a:lnTo>
                  <a:pt x="22450" y="184887"/>
                </a:lnTo>
                <a:lnTo>
                  <a:pt x="19568" y="157609"/>
                </a:lnTo>
                <a:lnTo>
                  <a:pt x="16911" y="133238"/>
                </a:lnTo>
                <a:lnTo>
                  <a:pt x="14462" y="111490"/>
                </a:lnTo>
                <a:lnTo>
                  <a:pt x="12206" y="92095"/>
                </a:lnTo>
                <a:lnTo>
                  <a:pt x="10126" y="74804"/>
                </a:lnTo>
                <a:lnTo>
                  <a:pt x="8209" y="59392"/>
                </a:lnTo>
                <a:lnTo>
                  <a:pt x="6442" y="45656"/>
                </a:lnTo>
                <a:lnTo>
                  <a:pt x="4810" y="33414"/>
                </a:lnTo>
                <a:lnTo>
                  <a:pt x="3305" y="22504"/>
                </a:lnTo>
                <a:lnTo>
                  <a:pt x="1914" y="12782"/>
                </a:lnTo>
                <a:lnTo>
                  <a:pt x="624" y="4091"/>
                </a:lnTo>
                <a:lnTo>
                  <a:pt x="0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15869902">
            <a:off x="8296073" y="3715066"/>
            <a:ext cx="1357505" cy="581788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 flipV="1">
            <a:off x="8909751" y="3330334"/>
            <a:ext cx="65075" cy="67562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 rot="15855357">
            <a:off x="8161796" y="2137243"/>
            <a:ext cx="1357505" cy="581788"/>
          </a:xfrm>
          <a:prstGeom prst="rect">
            <a:avLst/>
          </a:prstGeom>
          <a:solidFill>
            <a:srgbClr val="34D399">
              <a:alpha val="4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flipH="1" flipV="1">
            <a:off x="8772615" y="1752793"/>
            <a:ext cx="67933" cy="67534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5129784"/>
            <a:ext cx="365760" cy="0"/>
          </a:xfrm>
          <a:prstGeom prst="line">
            <a:avLst/>
          </a:prstGeom>
          <a:noFill/>
          <a:ln w="34925">
            <a:solidFill>
              <a:srgbClr val="22D3E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46520" y="502920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 path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680960" y="5047488"/>
            <a:ext cx="365760" cy="164592"/>
          </a:xfrm>
          <a:prstGeom prst="rect">
            <a:avLst/>
          </a:prstGeom>
          <a:solidFill>
            <a:srgbClr val="34D399">
              <a:alpha val="25000"/>
            </a:srgbClr>
          </a:solidFill>
          <a:ln w="15875">
            <a:solidFill>
              <a:srgbClr val="34D399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138160" y="502920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bay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89320" y="539496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simulator episode, seed 9170 (a held-out far start picked to contrast outcomes): Fuzzy-precise ends fully inside the bay.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what changed and what did not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over 500 held-out episodes (seeds 3000-3099, 5000-5199, 9000-9199)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1.0 % → 57.8 %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in-bay success, Fuzzy-only → Fuzzy-precise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88 % was pose tolerance, not parked inside the lines.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2200" y="141732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11B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155448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5.8 % → 68.2 %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success, original PPO → retrained PPO v2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606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 better, but still below Fuzzy and it fails far starts (11 %).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383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collisions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the braking-envelope shield, every controller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2960" y="4572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Costs completion: success drops, timeouts rise, some runs deadlock.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2200" y="3383280"/>
            <a:ext cx="5440680" cy="1783080"/>
          </a:xfrm>
          <a:prstGeom prst="roundRect">
            <a:avLst>
              <a:gd name="adj" fmla="val 4103"/>
            </a:avLst>
          </a:prstGeom>
          <a:solidFill>
            <a:srgbClr val="111B33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46520" y="352044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RL benefit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6446520" y="4206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RL + Fuzzy hybrid equals Fuzzy-only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6446520" y="45720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stall latch hands control to pure Fuzzy; PPO is not consulted.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READY WITH CAVEATS. Strict success is bounded at about 58 %, no learned controller beats Fuzzy, and safety is shown only under the simulator’s own model.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autonomous-parking/experiments/corrected_evaluation/summary_all.md; experiments/hybrid_diagnosis/; experiments/shield_verification/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workflow, as implemented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maps to a file in the repository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60A5FA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2179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rl/train_ppo.py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PPO, curriculum,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validation seeds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40280" y="2286000"/>
            <a:ext cx="1828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242316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+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Simulator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42316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9631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environment/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bicycle model, 8 rays,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OBB collision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0" y="2286000"/>
            <a:ext cx="1828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29768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34D399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9768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37083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make_adapter()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fuzzy / PPO / hybrid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89320" y="2286000"/>
            <a:ext cx="1828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617220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FBBF24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shield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(optional)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17220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24535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integration/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envelope_shield.py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63840" y="2286000"/>
            <a:ext cx="1828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0" name="Text 18"/>
          <p:cNvSpPr txBox="1"/>
          <p:nvPr/>
        </p:nvSpPr>
        <p:spPr>
          <a:xfrm>
            <a:off x="804672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60A5FA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04672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11987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evaluation/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strict + pose metric,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McNemar, CIs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738360" y="2286000"/>
            <a:ext cx="18288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9921240" y="1828800"/>
            <a:ext cx="1691640" cy="914400"/>
          </a:xfrm>
          <a:prstGeom prst="roundRect">
            <a:avLst>
              <a:gd name="adj" fmla="val 8000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  <p:txBody>
          <a:bodyPr wrap="square" lIns="50800" tIns="101600" rIns="101600" bIns="508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Visualisation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9921240" y="2880360"/>
            <a:ext cx="1691640" cy="1143000"/>
          </a:xfrm>
          <a:prstGeom prst="roundRect">
            <a:avLst>
              <a:gd name="adj" fmla="val 640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994392" y="2944368"/>
            <a:ext cx="15453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viewer/ (three.js)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replay of recorded</a:t>
            </a:r>
            <a:endParaRPr lang="en-US" sz="12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episodes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343400"/>
            <a:ext cx="11064240" cy="1645920"/>
          </a:xfrm>
          <a:prstGeom prst="roundRect">
            <a:avLst>
              <a:gd name="adj" fmla="val 4444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77240" y="4434840"/>
            <a:ext cx="10607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(14):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slot offset (world frame), heading error sin/cos, speed, steer angle, 8 ray distances.  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(2):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steer, throttle/brake (negative = brake; forward-only, no reverse gear).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Inference path: </a:t>
            </a:r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→ controller proposes action → (optional) envelope shield simulates one step then full braking; if the car footprint would hit anything, it replaces the action with hold-steer + full brake → simulator step.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viewer replays recorded episodes. It is not live inference.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now vs future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left column is claimed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IMPLEMENTED AND TESTED (131 tests pass)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parking simulator with randomised start pose and distance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Fuzzy-only and Fuzzy-precise navigators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original (100k) and PPO v2 (retrained, ~420k)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RL + Fuzzy hybrid with fuzzy shield and stall latch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Braking-envelope shield, fail-closed on NaN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in-bay metric next to legacy pose metric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evaluation: exact McNemar, Wilson CIs, stratified by start distance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 viewer with strict-vs-pose HUD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11B33"/>
          </a:solidFill>
          <a:ln w="12700">
            <a:solidFill>
              <a:srgbClr val="FBBF24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BBF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WORK (not claimed)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gear and re-manoeuvring (remaining strict misses are heading-limited)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parking results (code exists, excluded from every number)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hybrid arbitration instead of hand-set weights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that handles far starts (v2: 11 % on starts ≥ 4.5 m)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that proposes its own escape action (today it only brakes)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noise, latency, moving obstacles, brake mismatch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verification of the shield</a:t>
            </a:r>
            <a:endParaRPr lang="en-US" sz="1400" dirty="0"/>
          </a:p>
          <a:p>
            <a:pPr algn="l" marL="342900" indent="-342900">
              <a:lnSpc>
                <a:spcPct val="100000"/>
              </a:lnSpc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in-browser inference in the viewer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Corrected success metric: pose is not "inside the bay"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trajectories, two definitions. The geometry was not loosened.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120640" cy="4572000"/>
          </a:xfrm>
          <a:prstGeom prst="roundRect">
            <a:avLst>
              <a:gd name="adj" fmla="val 1600"/>
            </a:avLst>
          </a:prstGeom>
          <a:solidFill>
            <a:srgbClr val="0D1630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600200"/>
            <a:ext cx="1580083" cy="3160166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111910" y="2008388"/>
            <a:ext cx="1185062" cy="2765146"/>
          </a:xfrm>
          <a:prstGeom prst="rect">
            <a:avLst/>
          </a:prstGeom>
          <a:solidFill>
            <a:srgbClr val="22D3EE">
              <a:alpha val="30000"/>
            </a:srgbClr>
          </a:solidFill>
          <a:ln w="25400">
            <a:solidFill>
              <a:srgbClr val="22D3EE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926080" y="16916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 2.4 × 4.8 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926080" y="205740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1.8 × 4.2 m, centred 0.32 m short of the slot centre (legacy stop radius)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28803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0.30 m clearance at each end and 0.30 m each side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926080" y="361188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heading error of 9° already swings a corner out: half-width = 0.9 cosθ + 2.1 sinθ = 1.22 m &gt; 1.20 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2160" y="1417320"/>
            <a:ext cx="576072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08076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success (legacy)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080760" y="182880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 ≤ 0.40 m from slot centre, heading error &lt; 15°, speed ≤ 0.20 m/s for 2 steps, no collision. Looser than the 0.30 m bay clearance, so a "success" can overhang.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852160" y="3703320"/>
            <a:ext cx="5760720" cy="2286000"/>
          </a:xfrm>
          <a:prstGeom prst="roundRect">
            <a:avLst>
              <a:gd name="adj" fmla="val 3200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3794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(contained) success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080760" y="411480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criterion AND the whole 4.2 × 1.8 m car footprint inside the bay lines (success_mode="contained"). Fuzzy-only drops from 88 % to 1 %; a smaller stop radius (0.10 m, tuned on seeds 7000-7099 only) lifts Fuzzy-precise to 58 %. Misses left are heading-limited: forward-only motion cannot re-manoeuvre.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environment/parking_env.py; evaluation/tune_precision.py; tests/test_containment_metric.py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success vs strict success, n = 500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 retained; shared seeds across controllers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7498080" cy="4663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229600" y="1417320"/>
            <a:ext cx="3383280" cy="4572000"/>
          </a:xfrm>
          <a:prstGeom prst="roundRect">
            <a:avLst>
              <a:gd name="adj" fmla="val 2162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412480" y="15087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tests (exact McNemar, pooled)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412480" y="2011680"/>
            <a:ext cx="30632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Fuzzy-precise vs PPO v2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success: 94 vs 37 discordant, p ≈ 7e-7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Fuzzy-only vs Fuzzy-precise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success: 0 vs 284, p ≈ 6e-86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Fuzzy-precise vs PPO v2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5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success: 106 vs 6, p ≈ 1e-24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412480" y="5029200"/>
            <a:ext cx="3063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 rates (pose mode): 11.8 / 11.8 / 43.4 / 4.2 / 13.0 %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autonomous-parking/experiments/corrected_evaluation/summary_all.csv, paired tests in summary_all.md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start, three controllers: recorded trajectories (seed 9170)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 episodes from the simulator, drawn from the viewer’s recorded JSON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D16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65109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816543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43862" y="1586802"/>
            <a:ext cx="775717" cy="1551434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2353118" y="2461551"/>
            <a:ext cx="129467" cy="1544409"/>
          </a:xfrm>
          <a:custGeom>
            <a:avLst/>
            <a:gdLst/>
            <a:ahLst/>
            <a:cxnLst/>
            <a:rect l="l" t="t" r="r" b="b"/>
            <a:pathLst>
              <a:path w="129467" h="1544409">
                <a:moveTo>
                  <a:pt x="129467" y="1544409"/>
                </a:moveTo>
                <a:lnTo>
                  <a:pt x="128363" y="1529903"/>
                </a:lnTo>
                <a:lnTo>
                  <a:pt x="126085" y="1499840"/>
                </a:lnTo>
                <a:lnTo>
                  <a:pt x="123291" y="1462784"/>
                </a:lnTo>
                <a:lnTo>
                  <a:pt x="120295" y="1422865"/>
                </a:lnTo>
                <a:lnTo>
                  <a:pt x="117223" y="1381773"/>
                </a:lnTo>
                <a:lnTo>
                  <a:pt x="114123" y="1340201"/>
                </a:lnTo>
                <a:lnTo>
                  <a:pt x="111016" y="1298432"/>
                </a:lnTo>
                <a:lnTo>
                  <a:pt x="107907" y="1256582"/>
                </a:lnTo>
                <a:lnTo>
                  <a:pt x="104797" y="1214700"/>
                </a:lnTo>
                <a:lnTo>
                  <a:pt x="101686" y="1172805"/>
                </a:lnTo>
                <a:lnTo>
                  <a:pt x="98572" y="1130905"/>
                </a:lnTo>
                <a:lnTo>
                  <a:pt x="95452" y="1089003"/>
                </a:lnTo>
                <a:lnTo>
                  <a:pt x="92325" y="1047102"/>
                </a:lnTo>
                <a:lnTo>
                  <a:pt x="89188" y="1005201"/>
                </a:lnTo>
                <a:lnTo>
                  <a:pt x="86039" y="963300"/>
                </a:lnTo>
                <a:lnTo>
                  <a:pt x="82876" y="921401"/>
                </a:lnTo>
                <a:lnTo>
                  <a:pt x="79695" y="879504"/>
                </a:lnTo>
                <a:lnTo>
                  <a:pt x="76495" y="837608"/>
                </a:lnTo>
                <a:lnTo>
                  <a:pt x="73273" y="795713"/>
                </a:lnTo>
                <a:lnTo>
                  <a:pt x="70025" y="753821"/>
                </a:lnTo>
                <a:lnTo>
                  <a:pt x="66749" y="711931"/>
                </a:lnTo>
                <a:lnTo>
                  <a:pt x="63442" y="670043"/>
                </a:lnTo>
                <a:lnTo>
                  <a:pt x="60099" y="628158"/>
                </a:lnTo>
                <a:lnTo>
                  <a:pt x="56717" y="586277"/>
                </a:lnTo>
                <a:lnTo>
                  <a:pt x="53291" y="544398"/>
                </a:lnTo>
                <a:lnTo>
                  <a:pt x="49817" y="502524"/>
                </a:lnTo>
                <a:lnTo>
                  <a:pt x="46289" y="460654"/>
                </a:lnTo>
                <a:lnTo>
                  <a:pt x="42700" y="418789"/>
                </a:lnTo>
                <a:lnTo>
                  <a:pt x="39043" y="376929"/>
                </a:lnTo>
                <a:lnTo>
                  <a:pt x="35308" y="335076"/>
                </a:lnTo>
                <a:lnTo>
                  <a:pt x="31490" y="293292"/>
                </a:lnTo>
                <a:lnTo>
                  <a:pt x="27715" y="253036"/>
                </a:lnTo>
                <a:lnTo>
                  <a:pt x="24121" y="215774"/>
                </a:lnTo>
                <a:lnTo>
                  <a:pt x="20758" y="181929"/>
                </a:lnTo>
                <a:lnTo>
                  <a:pt x="17639" y="151473"/>
                </a:lnTo>
                <a:lnTo>
                  <a:pt x="14758" y="124195"/>
                </a:lnTo>
                <a:lnTo>
                  <a:pt x="12100" y="99824"/>
                </a:lnTo>
                <a:lnTo>
                  <a:pt x="9652" y="78076"/>
                </a:lnTo>
                <a:lnTo>
                  <a:pt x="7395" y="58680"/>
                </a:lnTo>
                <a:lnTo>
                  <a:pt x="5316" y="41390"/>
                </a:lnTo>
                <a:lnTo>
                  <a:pt x="3399" y="25978"/>
                </a:lnTo>
                <a:lnTo>
                  <a:pt x="1631" y="12242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869902">
            <a:off x="1803833" y="3715066"/>
            <a:ext cx="1357505" cy="581788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2417511" y="3330334"/>
            <a:ext cx="65075" cy="67562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15868189">
            <a:off x="1674366" y="2170657"/>
            <a:ext cx="1357505" cy="581788"/>
          </a:xfrm>
          <a:prstGeom prst="rect">
            <a:avLst/>
          </a:prstGeom>
          <a:solidFill>
            <a:srgbClr val="FBBF24">
              <a:alpha val="4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2287707" y="1785958"/>
            <a:ext cx="65411" cy="675593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Fuzzy-only (legacy)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13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Stopped within pose tolerance, NOT inside the bay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9768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D16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14149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5583" y="1683766"/>
            <a:ext cx="581788" cy="1357505"/>
          </a:xfrm>
          <a:prstGeom prst="roundRect">
            <a:avLst>
              <a:gd name="adj" fmla="val 7859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92902" y="1586802"/>
            <a:ext cx="775717" cy="1551434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097348" y="2428137"/>
            <a:ext cx="134278" cy="1577823"/>
          </a:xfrm>
          <a:custGeom>
            <a:avLst/>
            <a:gdLst/>
            <a:ahLst/>
            <a:cxnLst/>
            <a:rect l="l" t="t" r="r" b="b"/>
            <a:pathLst>
              <a:path w="134278" h="1577823">
                <a:moveTo>
                  <a:pt x="134278" y="1577823"/>
                </a:moveTo>
                <a:lnTo>
                  <a:pt x="133173" y="1563317"/>
                </a:lnTo>
                <a:lnTo>
                  <a:pt x="130895" y="1533254"/>
                </a:lnTo>
                <a:lnTo>
                  <a:pt x="128102" y="1496199"/>
                </a:lnTo>
                <a:lnTo>
                  <a:pt x="125106" y="1456279"/>
                </a:lnTo>
                <a:lnTo>
                  <a:pt x="122033" y="1415187"/>
                </a:lnTo>
                <a:lnTo>
                  <a:pt x="118933" y="1373615"/>
                </a:lnTo>
                <a:lnTo>
                  <a:pt x="115826" y="1331846"/>
                </a:lnTo>
                <a:lnTo>
                  <a:pt x="112717" y="1289996"/>
                </a:lnTo>
                <a:lnTo>
                  <a:pt x="109607" y="1248114"/>
                </a:lnTo>
                <a:lnTo>
                  <a:pt x="106496" y="1206219"/>
                </a:lnTo>
                <a:lnTo>
                  <a:pt x="103382" y="1164319"/>
                </a:lnTo>
                <a:lnTo>
                  <a:pt x="100262" y="1122418"/>
                </a:lnTo>
                <a:lnTo>
                  <a:pt x="97135" y="1080516"/>
                </a:lnTo>
                <a:lnTo>
                  <a:pt x="93999" y="1038615"/>
                </a:lnTo>
                <a:lnTo>
                  <a:pt x="90850" y="996714"/>
                </a:lnTo>
                <a:lnTo>
                  <a:pt x="87686" y="954815"/>
                </a:lnTo>
                <a:lnTo>
                  <a:pt x="84506" y="912918"/>
                </a:lnTo>
                <a:lnTo>
                  <a:pt x="81306" y="871022"/>
                </a:lnTo>
                <a:lnTo>
                  <a:pt x="78083" y="829127"/>
                </a:lnTo>
                <a:lnTo>
                  <a:pt x="74836" y="787235"/>
                </a:lnTo>
                <a:lnTo>
                  <a:pt x="71560" y="745345"/>
                </a:lnTo>
                <a:lnTo>
                  <a:pt x="68252" y="703457"/>
                </a:lnTo>
                <a:lnTo>
                  <a:pt x="64909" y="661572"/>
                </a:lnTo>
                <a:lnTo>
                  <a:pt x="61527" y="619691"/>
                </a:lnTo>
                <a:lnTo>
                  <a:pt x="58102" y="577812"/>
                </a:lnTo>
                <a:lnTo>
                  <a:pt x="54627" y="535938"/>
                </a:lnTo>
                <a:lnTo>
                  <a:pt x="51099" y="494068"/>
                </a:lnTo>
                <a:lnTo>
                  <a:pt x="47510" y="452203"/>
                </a:lnTo>
                <a:lnTo>
                  <a:pt x="43853" y="410344"/>
                </a:lnTo>
                <a:lnTo>
                  <a:pt x="40118" y="368491"/>
                </a:lnTo>
                <a:lnTo>
                  <a:pt x="36301" y="326706"/>
                </a:lnTo>
                <a:lnTo>
                  <a:pt x="32526" y="286450"/>
                </a:lnTo>
                <a:lnTo>
                  <a:pt x="28931" y="249188"/>
                </a:lnTo>
                <a:lnTo>
                  <a:pt x="25569" y="215343"/>
                </a:lnTo>
                <a:lnTo>
                  <a:pt x="22450" y="184887"/>
                </a:lnTo>
                <a:lnTo>
                  <a:pt x="19568" y="157609"/>
                </a:lnTo>
                <a:lnTo>
                  <a:pt x="16911" y="133238"/>
                </a:lnTo>
                <a:lnTo>
                  <a:pt x="14462" y="111490"/>
                </a:lnTo>
                <a:lnTo>
                  <a:pt x="12206" y="92095"/>
                </a:lnTo>
                <a:lnTo>
                  <a:pt x="10126" y="74804"/>
                </a:lnTo>
                <a:lnTo>
                  <a:pt x="8209" y="59392"/>
                </a:lnTo>
                <a:lnTo>
                  <a:pt x="6442" y="45656"/>
                </a:lnTo>
                <a:lnTo>
                  <a:pt x="4810" y="33414"/>
                </a:lnTo>
                <a:lnTo>
                  <a:pt x="3305" y="22504"/>
                </a:lnTo>
                <a:lnTo>
                  <a:pt x="1914" y="12782"/>
                </a:lnTo>
                <a:lnTo>
                  <a:pt x="624" y="4091"/>
                </a:lnTo>
                <a:lnTo>
                  <a:pt x="0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15869902">
            <a:off x="5552873" y="3715066"/>
            <a:ext cx="1357505" cy="581788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flipH="1" flipV="1">
            <a:off x="6166551" y="3330334"/>
            <a:ext cx="65075" cy="675626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 rot="15855357">
            <a:off x="5418596" y="2137243"/>
            <a:ext cx="1357505" cy="581788"/>
          </a:xfrm>
          <a:prstGeom prst="rect">
            <a:avLst/>
          </a:prstGeom>
          <a:solidFill>
            <a:srgbClr val="34D399">
              <a:alpha val="4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flipH="1" flipV="1">
            <a:off x="6029415" y="1752793"/>
            <a:ext cx="67933" cy="675344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24" name="Text 22"/>
          <p:cNvSpPr txBox="1"/>
          <p:nvPr/>
        </p:nvSpPr>
        <p:spPr>
          <a:xfrm>
            <a:off x="429768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Fuzzy-precise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4297680" y="5413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inside the bay (0.21 m, 5.7°)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8046720" y="1417320"/>
            <a:ext cx="3566160" cy="3566160"/>
          </a:xfrm>
          <a:prstGeom prst="roundRect">
            <a:avLst>
              <a:gd name="adj" fmla="val 2051"/>
            </a:avLst>
          </a:prstGeom>
          <a:solidFill>
            <a:srgbClr val="0D1630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764984" y="1689088"/>
            <a:ext cx="580809" cy="1355220"/>
          </a:xfrm>
          <a:prstGeom prst="roundRect">
            <a:avLst>
              <a:gd name="adj" fmla="val 7872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313807" y="1689088"/>
            <a:ext cx="580809" cy="1355220"/>
          </a:xfrm>
          <a:prstGeom prst="roundRect">
            <a:avLst>
              <a:gd name="adj" fmla="val 7872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442594" y="1592286"/>
            <a:ext cx="774412" cy="1548823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9806743" y="2393426"/>
            <a:ext cx="173669" cy="1613948"/>
          </a:xfrm>
          <a:custGeom>
            <a:avLst/>
            <a:gdLst/>
            <a:ahLst/>
            <a:cxnLst/>
            <a:rect l="l" t="t" r="r" b="b"/>
            <a:pathLst>
              <a:path w="173669" h="1613948">
                <a:moveTo>
                  <a:pt x="173669" y="1613948"/>
                </a:moveTo>
                <a:lnTo>
                  <a:pt x="171351" y="1599585"/>
                </a:lnTo>
                <a:lnTo>
                  <a:pt x="165700" y="1566104"/>
                </a:lnTo>
                <a:lnTo>
                  <a:pt x="156162" y="1513588"/>
                </a:lnTo>
                <a:lnTo>
                  <a:pt x="141917" y="1442180"/>
                </a:lnTo>
                <a:lnTo>
                  <a:pt x="121912" y="1352104"/>
                </a:lnTo>
                <a:lnTo>
                  <a:pt x="94996" y="1243666"/>
                </a:lnTo>
                <a:lnTo>
                  <a:pt x="62728" y="1120002"/>
                </a:lnTo>
                <a:lnTo>
                  <a:pt x="35237" y="993872"/>
                </a:lnTo>
                <a:lnTo>
                  <a:pt x="13947" y="866520"/>
                </a:lnTo>
                <a:lnTo>
                  <a:pt x="2050" y="737554"/>
                </a:lnTo>
                <a:lnTo>
                  <a:pt x="8164" y="606864"/>
                </a:lnTo>
                <a:lnTo>
                  <a:pt x="10593" y="478349"/>
                </a:lnTo>
                <a:lnTo>
                  <a:pt x="4997" y="349365"/>
                </a:lnTo>
                <a:lnTo>
                  <a:pt x="0" y="220364"/>
                </a:lnTo>
                <a:lnTo>
                  <a:pt x="2161" y="97768"/>
                </a:lnTo>
                <a:lnTo>
                  <a:pt x="12115" y="25432"/>
                </a:lnTo>
                <a:lnTo>
                  <a:pt x="14417" y="2964"/>
                </a:lnTo>
                <a:lnTo>
                  <a:pt x="14648" y="0"/>
                </a:lnTo>
                <a:lnTo>
                  <a:pt x="14648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15869902">
            <a:off x="9302802" y="3716970"/>
            <a:ext cx="1355220" cy="580809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flipH="1" flipV="1">
            <a:off x="9915447" y="3332885"/>
            <a:ext cx="64965" cy="674489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 rot="16196332">
            <a:off x="9143781" y="2103022"/>
            <a:ext cx="1355220" cy="580809"/>
          </a:xfrm>
          <a:prstGeom prst="rect">
            <a:avLst/>
          </a:prstGeom>
          <a:solidFill>
            <a:srgbClr val="34D399">
              <a:alpha val="45000"/>
            </a:srgbClr>
          </a:solidFill>
          <a:ln w="19050">
            <a:solidFill>
              <a:srgbClr val="34D39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flipH="1" flipV="1">
            <a:off x="9820668" y="1715816"/>
            <a:ext cx="723" cy="677610"/>
          </a:xfrm>
          <a:prstGeom prst="line">
            <a:avLst/>
          </a:prstGeom>
          <a:noFill/>
          <a:ln w="19050">
            <a:solidFill>
              <a:srgbClr val="34D399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8046720" y="50749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v2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8046720" y="541324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Parked inside the bay (0.09 m, 0.1°)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548640" y="5897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9170 is a held-out far start chosen because it contrasts the outcomes; it is not a typical episode. On far starts PPO v2 usually fails (see the PPO slide).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PPO: original was under-trained; v2 is better but still limited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with the curriculum recipe, 3 seeds, ~420k steps each; selected on validation seeds 7000-7099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76656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498080" y="1417320"/>
            <a:ext cx="4114800" cy="4069080"/>
          </a:xfrm>
          <a:prstGeom prst="roundRect">
            <a:avLst>
              <a:gd name="adj" fmla="val 1798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726680" y="1508760"/>
            <a:ext cx="3657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(validation)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checkpoints: 55-70 % success, 2-6 % collision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Selected: seed 3 best, 70 % / 3 %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held-out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 68.2 %, strict 46.4 %, collision 4.2 %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Original: pose 5.8 %, collision 43.4 %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notes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6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normalisation is configured but never used; no observation normalisation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6235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Reading: PPO v2 matches Fuzzy near the bay and collapses on far starts. We claim "much better than the original", not "better than Fuzzy".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autonomous-parking/models/README.md; autonomous-parking/experiments/corrected_evaluation/stratified.md; experiments/ppo_retrain/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RL + Fuzzy equals Fuzzy-only: the stall latch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on 100 seeds of the original hybrid; PPO is queried and its output is state-dependent</a:t>
            </a:r>
            <a:endParaRPr lang="en-US" sz="15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111B33"/>
          </a:solidFill>
          <a:ln w="15875">
            <a:solidFill>
              <a:srgbClr val="FBBF24"/>
            </a:solidFill>
            <a:prstDash val="solid"/>
          </a:ln>
        </p:spPr>
        <p:txBody>
          <a:bodyPr wrap="square" lIns="50800" tIns="101600" rIns="1016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Spawn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Mamdani shield fires in ~77 % of episodes (about 45 % of starts are within 0.3 m of a neighbour)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971800" y="22860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6" name="Text 4"/>
          <p:cNvSpPr txBox="1"/>
          <p:nvPr/>
        </p:nvSpPr>
        <p:spPr>
          <a:xfrm>
            <a:off x="3429000" y="14630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111B33"/>
          </a:solidFill>
          <a:ln w="15875">
            <a:solidFill>
              <a:srgbClr val="F87171"/>
            </a:solidFill>
            <a:prstDash val="solid"/>
          </a:ln>
        </p:spPr>
        <p:txBody>
          <a:bodyPr wrap="square" lIns="50800" tIns="101600" rIns="1016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Brake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brakes, car stays still, PPO action is overridden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852160" y="22860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8" name="Text 6"/>
          <p:cNvSpPr txBox="1"/>
          <p:nvPr/>
        </p:nvSpPr>
        <p:spPr>
          <a:xfrm>
            <a:off x="6309360" y="14630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111B33"/>
          </a:solidFill>
          <a:ln w="15875">
            <a:solidFill>
              <a:srgbClr val="22D3EE"/>
            </a:solidFill>
            <a:prstDash val="solid"/>
          </a:ln>
        </p:spPr>
        <p:txBody>
          <a:bodyPr wrap="square" lIns="50800" tIns="101600" rIns="1016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Latch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12 stalled steps (1.2 s) control goes to pure FuzzyOnlyController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732520" y="2286000"/>
            <a:ext cx="457200" cy="0"/>
          </a:xfrm>
          <a:prstGeom prst="line">
            <a:avLst/>
          </a:prstGeom>
          <a:noFill/>
          <a:ln w="25400">
            <a:solidFill>
              <a:srgbClr val="5B6B8C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9189720" y="1463040"/>
            <a:ext cx="2423160" cy="1737360"/>
          </a:xfrm>
          <a:prstGeom prst="roundRect">
            <a:avLst>
              <a:gd name="adj" fmla="val 4211"/>
            </a:avLst>
          </a:prstGeom>
          <a:solidFill>
            <a:srgbClr val="111B33"/>
          </a:solidFill>
          <a:ln w="15875">
            <a:solidFill>
              <a:srgbClr val="34D399"/>
            </a:solidFill>
            <a:prstDash val="solid"/>
          </a:ln>
        </p:spPr>
        <p:txBody>
          <a:bodyPr wrap="square" lIns="50800" tIns="101600" rIns="101600" bIns="5080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Fuzzy drives</a:t>
            </a:r>
            <a:endParaRPr lang="en-US" sz="16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PPO and shield are no longer consulted; latch fires in 96 of 100 episodes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48640" y="3383280"/>
          <a:ext cx="603504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766560" y="3429000"/>
            <a:ext cx="4846320" cy="2651760"/>
          </a:xfrm>
          <a:prstGeom prst="roundRect">
            <a:avLst>
              <a:gd name="adj" fmla="val 2759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949440" y="3520440"/>
            <a:ext cx="45262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the latch the original hybrid gets 3 % success and 97 % timeouts.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RL weight raised success; more RL weight traded collisions for timeouts.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500 episodes: hybrid pose success 87.0 % vs Fuzzy-only 88.2 % (McNemar 7 vs 1, p = 0.07).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experiments/hybrid_diagnosis/; tests/test_hybrid_integrity.py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Envelope shield: collisions go to zero, completion pays for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Pose-mode outcomes, n = 500, without and with the shield</a:t>
            </a:r>
            <a:endParaRPr lang="en-US" sz="15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6217920" y="137160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48463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111B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777240" y="4937760"/>
            <a:ext cx="106070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Deadlock, not caution: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of 81 Fuzzy-only+shield timeouts never moved more than 1 m. The shield rejects every proposed action and proposes none of its own (active in 96 % of steps, median final distance to the slot 4.27 m).</a:t>
            </a:r>
            <a:endParaRPr lang="en-US" sz="1300" dirty="0"/>
          </a:p>
          <a:p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Collision-free only under its own model: </a:t>
            </a:r>
            <a:pPr algn="l" indent="0" marL="0">
              <a:lnSpc>
                <a:spcPct val="100000"/>
              </a:lnSpc>
              <a:spcAft>
                <a:spcPts val="400"/>
              </a:spcAft>
              <a:buNone/>
            </a:pPr>
            <a:r>
              <a:rPr lang="en-US" sz="13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real brakes at 0.85× the modelled strength, 49 of 198 adversarial episodes collide (0.7×: 114, 0.5×: 156).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experiments/shield_verification/*.json; evaluation/shield_stress.py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3009: collision without the shield, a freeze with it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trajectories (left) and frames from the rendered 3D viewer (right)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0D1630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03974" y="1616014"/>
            <a:ext cx="482644" cy="1126168"/>
          </a:xfrm>
          <a:prstGeom prst="roundRect">
            <a:avLst>
              <a:gd name="adj" fmla="val 9473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391023" y="1616014"/>
            <a:ext cx="482644" cy="1126168"/>
          </a:xfrm>
          <a:prstGeom prst="roundRect">
            <a:avLst>
              <a:gd name="adj" fmla="val 9473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67058" y="1535574"/>
            <a:ext cx="643525" cy="1287049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1738337" y="3298282"/>
            <a:ext cx="21930" cy="347966"/>
          </a:xfrm>
          <a:custGeom>
            <a:avLst/>
            <a:gdLst/>
            <a:ahLst/>
            <a:cxnLst/>
            <a:rect l="l" t="t" r="r" b="b"/>
            <a:pathLst>
              <a:path w="21930" h="347966">
                <a:moveTo>
                  <a:pt x="0" y="347966"/>
                </a:moveTo>
                <a:lnTo>
                  <a:pt x="733" y="310137"/>
                </a:lnTo>
                <a:lnTo>
                  <a:pt x="3765" y="244908"/>
                </a:lnTo>
                <a:lnTo>
                  <a:pt x="7891" y="175224"/>
                </a:lnTo>
                <a:lnTo>
                  <a:pt x="12910" y="105040"/>
                </a:lnTo>
                <a:lnTo>
                  <a:pt x="18734" y="34968"/>
                </a:lnTo>
                <a:lnTo>
                  <a:pt x="21930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15535793">
            <a:off x="1175253" y="3404926"/>
            <a:ext cx="1126168" cy="482644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flipH="1" flipV="1">
            <a:off x="1630219" y="3093641"/>
            <a:ext cx="108118" cy="552607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 rot="16117075">
            <a:off x="1197183" y="3056961"/>
            <a:ext cx="1126168" cy="482644"/>
          </a:xfrm>
          <a:prstGeom prst="rect">
            <a:avLst/>
          </a:prstGeom>
          <a:solidFill>
            <a:srgbClr val="F87171">
              <a:alpha val="45000"/>
            </a:srgbClr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flipH="1" flipV="1">
            <a:off x="1746686" y="2735362"/>
            <a:ext cx="13581" cy="562920"/>
          </a:xfrm>
          <a:prstGeom prst="line">
            <a:avLst/>
          </a:prstGeom>
          <a:noFill/>
          <a:ln w="19050">
            <a:solidFill>
              <a:srgbClr val="F8717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548640" y="4526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Fuzzy-only: collision after 22 steps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11880" y="1417320"/>
            <a:ext cx="2880360" cy="3017520"/>
          </a:xfrm>
          <a:prstGeom prst="roundRect">
            <a:avLst>
              <a:gd name="adj" fmla="val 2540"/>
            </a:avLst>
          </a:prstGeom>
          <a:solidFill>
            <a:srgbClr val="0D1630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67214" y="1616014"/>
            <a:ext cx="482644" cy="1126168"/>
          </a:xfrm>
          <a:prstGeom prst="roundRect">
            <a:avLst>
              <a:gd name="adj" fmla="val 9473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54263" y="1616014"/>
            <a:ext cx="482644" cy="1126168"/>
          </a:xfrm>
          <a:prstGeom prst="roundRect">
            <a:avLst>
              <a:gd name="adj" fmla="val 9473"/>
            </a:avLst>
          </a:prstGeom>
          <a:solidFill>
            <a:srgbClr val="2A3A5E"/>
          </a:solidFill>
          <a:ln w="15875">
            <a:solidFill>
              <a:srgbClr val="4A5F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30298" y="1535574"/>
            <a:ext cx="643525" cy="1287049"/>
          </a:xfrm>
          <a:prstGeom prst="rect">
            <a:avLst/>
          </a:prstGeom>
          <a:solidFill>
            <a:srgbClr val="34D399">
              <a:alpha val="12000"/>
            </a:srgbClr>
          </a:solidFill>
          <a:ln w="19050">
            <a:solidFill>
              <a:srgbClr val="34D399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4801577" y="3314420"/>
            <a:ext cx="20432" cy="331829"/>
          </a:xfrm>
          <a:custGeom>
            <a:avLst/>
            <a:gdLst/>
            <a:ahLst/>
            <a:cxnLst/>
            <a:rect l="l" t="t" r="r" b="b"/>
            <a:pathLst>
              <a:path w="20432" h="331829">
                <a:moveTo>
                  <a:pt x="0" y="331829"/>
                </a:moveTo>
                <a:lnTo>
                  <a:pt x="733" y="293999"/>
                </a:lnTo>
                <a:lnTo>
                  <a:pt x="3765" y="228771"/>
                </a:lnTo>
                <a:lnTo>
                  <a:pt x="7891" y="159087"/>
                </a:lnTo>
                <a:lnTo>
                  <a:pt x="12910" y="88903"/>
                </a:lnTo>
                <a:lnTo>
                  <a:pt x="18734" y="1883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  <a:lnTo>
                  <a:pt x="20432" y="0"/>
                </a:lnTo>
              </a:path>
            </a:pathLst>
          </a:custGeom>
          <a:solidFill>
            <a:srgbClr val="0A1020">
              <a:alpha val="0"/>
            </a:srgbClr>
          </a:solidFill>
          <a:ln w="34925">
            <a:solidFill>
              <a:srgbClr val="22D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15535793">
            <a:off x="4238493" y="3404926"/>
            <a:ext cx="1126168" cy="482644"/>
          </a:xfrm>
          <a:prstGeom prst="rect">
            <a:avLst/>
          </a:prstGeom>
          <a:solidFill>
            <a:srgbClr val="22D3EE">
              <a:alpha val="18000"/>
            </a:srgbClr>
          </a:solidFill>
          <a:ln w="19050">
            <a:solidFill>
              <a:srgbClr val="22D3E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 flipV="1">
            <a:off x="4693459" y="3093641"/>
            <a:ext cx="108118" cy="552607"/>
          </a:xfrm>
          <a:prstGeom prst="line">
            <a:avLst/>
          </a:prstGeom>
          <a:noFill/>
          <a:ln w="19050">
            <a:solidFill>
              <a:srgbClr val="22D3EE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 rot="16097240">
            <a:off x="4258925" y="3073098"/>
            <a:ext cx="1126168" cy="482644"/>
          </a:xfrm>
          <a:prstGeom prst="rect">
            <a:avLst/>
          </a:prstGeom>
          <a:solidFill>
            <a:srgbClr val="FBBF24">
              <a:alpha val="45000"/>
            </a:srgbClr>
          </a:solidFill>
          <a:ln w="19050">
            <a:solidFill>
              <a:srgbClr val="FBBF2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flipH="1" flipV="1">
            <a:off x="4805180" y="2751587"/>
            <a:ext cx="16829" cy="562833"/>
          </a:xfrm>
          <a:prstGeom prst="line">
            <a:avLst/>
          </a:prstGeom>
          <a:noFill/>
          <a:ln w="19050">
            <a:solidFill>
              <a:srgbClr val="FBBF24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3611880" y="4526280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Fuzzy-only + shield: brakes, times out</a:t>
            </a:r>
            <a:endParaRPr lang="en-US" sz="1200" dirty="0"/>
          </a:p>
        </p:txBody>
      </p:sp>
      <p:pic>
        <p:nvPicPr>
          <p:cNvPr id="24" name="Image 0" descr="Rendered 3D viewer frame: Fuzzy-only about to collide, clearance 0.13 m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1417320"/>
            <a:ext cx="4846320" cy="2724912"/>
          </a:xfrm>
          <a:prstGeom prst="rect">
            <a:avLst/>
          </a:prstGeom>
        </p:spPr>
      </p:pic>
      <p:pic>
        <p:nvPicPr>
          <p:cNvPr id="25" name="Image 1" descr="Rendered 3D viewer frame: shield holding the car at 0.05 m clearanc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4206240"/>
            <a:ext cx="2377440" cy="1335024"/>
          </a:xfrm>
          <a:prstGeom prst="rect">
            <a:avLst/>
          </a:prstGeom>
        </p:spPr>
      </p:pic>
      <p:pic>
        <p:nvPicPr>
          <p:cNvPr id="26" name="Image 2" descr="Rendered 3D viewer frame: Fuzzy-only stopped outside the bay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5440" y="4206240"/>
            <a:ext cx="2377440" cy="133502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548640" y="56692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i="1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Viewer frames captured in headless Chromium with software WebGL. Camera framing in top-down and chase modes was not verified.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validity and known limits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Absolute rates depend on the start generator; the ranking evidence is paired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44.6 % of starts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body clearance &lt; 0.30 m to a neighbour (6.4 % &lt; 0.05 m); start distance is uniform in [0.05, 1] × 6 m, so many starts begin beside the bay.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29768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22D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8056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Forward-only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480560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car cannot re-manoeuvre; remaining strict misses are heading-limited. Reverse code exists but is excluded from every number.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046720" y="1463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229600" y="1600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Model-based safety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2057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geometry, perfect brakes, no latency, no moving obstacles. Not formally verified.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overlap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PPO checkpoint’s best-model selection used seeds 5000-5039 (overlaps set B). Fresh set C (9000-9199) is clean for every controller.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29768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8056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seeds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48056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9170 in the viewer was picked to contrast outcomes. One simulator, perpendicular parking only.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46720" y="3749040"/>
            <a:ext cx="3566160" cy="2103120"/>
          </a:xfrm>
          <a:prstGeom prst="roundRect">
            <a:avLst>
              <a:gd name="adj" fmla="val 3478"/>
            </a:avLst>
          </a:prstGeom>
          <a:solidFill>
            <a:srgbClr val="111B33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0" y="38862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700" b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hand-set parts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0" y="43434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weights and shield thresholds are hand-set; stop radius tuned on seeds 7000-7099 only.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F8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autonomous-parking/experiments/corrected_evaluation/start_features.csv, stratified.md; models/README.md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claim, and what we do not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READY WITH CAVEATS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11B33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 TO CLAIM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Fuzzy-precise parks fully inside the bay in 57.8 % of 500 held-out episodes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legacy 88 % is pose tolerance, strict is 1 %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Retrained PPO v2 is far better than the original PPO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hybrid equals Fuzzy-only because of the stall latch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shield gave 0 collisions in every simulated run, at the cost of completion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172200" y="1463040"/>
            <a:ext cx="5440680" cy="4526280"/>
          </a:xfrm>
          <a:prstGeom prst="roundRect">
            <a:avLst>
              <a:gd name="adj" fmla="val 1616"/>
            </a:avLst>
          </a:prstGeom>
          <a:solidFill>
            <a:srgbClr val="111B33"/>
          </a:solidFill>
          <a:ln w="12700">
            <a:solidFill>
              <a:srgbClr val="F87171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6446520" y="16002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8717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CLAIM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46520" y="1965960"/>
            <a:ext cx="493776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"RL + Fuzzy beats Fuzzy-only" (it does not)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"PPO solves parking" (it fails far starts)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"Collision-free" without "in this simulator model"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"Formally verified" or "universally safe" shield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"Parks inside the bay" for the legacy Fuzzy-only</a:t>
            </a:r>
            <a:endParaRPr lang="en-US" sz="1800" dirty="0"/>
          </a:p>
          <a:p>
            <a:pPr algn="l" marL="342900" indent="-342900">
              <a:lnSpc>
                <a:spcPct val="100000"/>
              </a:lnSpc>
              <a:spcAft>
                <a:spcPts val="1400"/>
              </a:spcAft>
              <a:buSzPct val="100000"/>
              <a:buChar char="•"/>
            </a:pPr>
            <a:r>
              <a:rPr lang="en-US" sz="1800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9170 is a typical episode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EAF0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Reproduce and inspect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500" dirty="0">
                <a:solidFill>
                  <a:srgbClr val="9DB0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 required (pinned dependency versions)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949440" cy="4526280"/>
          </a:xfrm>
          <a:prstGeom prst="roundRect">
            <a:avLst>
              <a:gd name="adj" fmla="val 1616"/>
            </a:avLst>
          </a:prstGeom>
          <a:solidFill>
            <a:srgbClr val="0D1630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45920"/>
            <a:ext cx="65836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autonomous-parking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pytest tests/ -q           # 131 passed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evaluation.evaluate_matrix  # resumable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evaluation.summarize_corrected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evaluation.stratify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-m evaluation.shield_stress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prepare_comparison.py --seed 9170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../viewer/serve.py            # replay viewer</a:t>
            </a:r>
            <a:endParaRPr lang="en-US" sz="1500" dirty="0"/>
          </a:p>
          <a:p>
            <a:pPr algn="l" indent="0" marL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sz="1500" dirty="0">
                <a:solidFill>
                  <a:srgbClr val="34D3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demo.py --controller fuzzy_precise+env --seed 3009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463040"/>
            <a:ext cx="3931920" cy="4526280"/>
          </a:xfrm>
          <a:prstGeom prst="roundRect">
            <a:avLst>
              <a:gd name="adj" fmla="val 1860"/>
            </a:avLst>
          </a:prstGeom>
          <a:solidFill>
            <a:srgbClr val="111B33"/>
          </a:solidFill>
          <a:ln w="12700">
            <a:solidFill>
              <a:srgbClr val="2A3B6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863840" y="1554480"/>
            <a:ext cx="3611880" cy="4297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CHANGELOG.md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PRESENTATION_READINESS_AUDIT.md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PROFESSOR_DEFENSE_QA.md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DEMO_RUNBOOK.md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autonomous-parking/experiments/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corrected_evaluation/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hybrid_diagnosis/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ppo_retrain/</a:t>
            </a:r>
            <a:endParaRPr lang="en-US" sz="1400" dirty="0"/>
          </a:p>
          <a:p>
            <a:pPr algn="l" indent="0" marL="0">
              <a:lnSpc>
                <a:spcPct val="100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9DB0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shield_verification/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46520"/>
            <a:ext cx="54864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F83A8"/>
                </a:solidFill>
                <a:latin typeface="Courier New"/>
                <a:ea typeface="Courier New"/>
                <a:cs typeface="Courier New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utonomous Parking Navy">
  <a:themeElements>
    <a:clrScheme name="Autonomous Parking Navy">
      <a:dk1>
        <a:srgbClr val="0A1020"/>
      </a:dk1>
      <a:lt1>
        <a:srgbClr val="EAF0FA"/>
      </a:lt1>
      <a:dk2>
        <a:srgbClr val="111B33"/>
      </a:dk2>
      <a:lt2>
        <a:srgbClr val="9DB0CF"/>
      </a:lt2>
      <a:accent1>
        <a:srgbClr val="22D3EE"/>
      </a:accent1>
      <a:accent2>
        <a:srgbClr val="34D399"/>
      </a:accent2>
      <a:accent3>
        <a:srgbClr val="FBBF24"/>
      </a:accent3>
      <a:accent4>
        <a:srgbClr val="F87171"/>
      </a:accent4>
      <a:accent5>
        <a:srgbClr val="60A5FA"/>
      </a:accent5>
      <a:accent6>
        <a:srgbClr val="5B6B8C"/>
      </a:accent6>
      <a:hlink>
        <a:srgbClr val="22D3EE"/>
      </a:hlink>
      <a:folHlink>
        <a:srgbClr val="9DB0CF"/>
      </a:folHlink>
    </a:clrScheme>
    <a:fontScheme name="Autonomous Parking Navy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Autonomous Parking: Final Evidence</dc:title>
  <dc:subject>B.Tech AI project presentation</dc:subject>
  <dc:creator>Jia Jadhav (I069), Armaan Shaikh (I072)</dc:creator>
  <cp:lastModifiedBy>Jia Jadhav (I069), Armaan Shaikh (I072)</cp:lastModifiedBy>
  <cp:revision>1</cp:revision>
  <dcterms:created xsi:type="dcterms:W3CDTF">2026-10-20T17:43:10Z</dcterms:created>
  <dcterms:modified xsi:type="dcterms:W3CDTF">2026-10-20T17:43:10Z</dcterms:modified>
</cp:coreProperties>
</file>